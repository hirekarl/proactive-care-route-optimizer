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8D348D-84AB-4C3C-977A-8C92B0AB4B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1E3768-E41A-41B0-9FEE-ADB716928A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0B9019-802B-432B-8344-CC12B5955B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5179FC-73AE-4E7E-9931-2975FC255A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E5F7BC-53F4-4467-8732-4FDD5B054E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5C039-F0F4-4EA2-BF20-7774345230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ED0D92-D00F-4389-A44D-0A59928F4A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7C3541-E5A3-4772-8865-7FB3D3A8124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269428-10F8-4355-8BD0-AF10E605C7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275A78-6D0A-4D98-9EBA-41A5DE4912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D8205-0D90-408C-8B82-B4CAE9D4E0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544C6A-2956-4742-9114-C984BBC3A1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8A4E00-4CF9-40F2-97E7-ED7BD1C3A56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2"/>
          <p:cNvSpPr/>
          <p:nvPr/>
        </p:nvSpPr>
        <p:spPr>
          <a:xfrm>
            <a:off x="-1828800" y="4114800"/>
            <a:ext cx="5028840" cy="4114440"/>
          </a:xfrm>
          <a:prstGeom prst="ellipse">
            <a:avLst/>
          </a:prstGeom>
          <a:solidFill>
            <a:srgbClr val="f0abfc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Oval 1"/>
          <p:cNvSpPr/>
          <p:nvPr/>
        </p:nvSpPr>
        <p:spPr>
          <a:xfrm>
            <a:off x="7315200" y="-2286000"/>
            <a:ext cx="6400440" cy="5486040"/>
          </a:xfrm>
          <a:prstGeom prst="ellipse">
            <a:avLst/>
          </a:prstGeom>
          <a:solidFill>
            <a:srgbClr val="38bdf8">
              <a:alpha val="11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3" name="Picture 3" descr="care-route-logo.png"/>
          <p:cNvPicPr/>
          <p:nvPr/>
        </p:nvPicPr>
        <p:blipFill>
          <a:blip r:embed="rId1"/>
          <a:stretch/>
        </p:blipFill>
        <p:spPr>
          <a:xfrm>
            <a:off x="594360" y="201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44" name="TextBox 4"/>
          <p:cNvSpPr/>
          <p:nvPr/>
        </p:nvSpPr>
        <p:spPr>
          <a:xfrm>
            <a:off x="1069920" y="283320"/>
            <a:ext cx="22856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Care-Route Optimizer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594360" y="731520"/>
            <a:ext cx="11002680" cy="6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TextBox 6"/>
          <p:cNvSpPr/>
          <p:nvPr/>
        </p:nvSpPr>
        <p:spPr>
          <a:xfrm>
            <a:off x="594360" y="1188720"/>
            <a:ext cx="45716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38bdf8"/>
                </a:solidFill>
                <a:latin typeface="Segoe UI"/>
              </a:rPr>
              <a:t>DATA INSIGHT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384120" y="1389960"/>
            <a:ext cx="50288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0" spc="-1" strike="noStrike">
                <a:solidFill>
                  <a:srgbClr val="38bdf8"/>
                </a:solidFill>
                <a:latin typeface="Segoe UI"/>
              </a:rPr>
              <a:t>79%</a:t>
            </a:r>
            <a:endParaRPr b="0" lang="en-US" sz="9000" spc="-1" strike="noStrike"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594360" y="2907720"/>
            <a:ext cx="4845960" cy="6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f8fafc"/>
                </a:solidFill>
                <a:latin typeface="Segoe UI"/>
              </a:rPr>
              <a:t>of DFTA providers sit within a quarter mile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US" sz="1500" spc="-1" strike="noStrike">
                <a:solidFill>
                  <a:srgbClr val="f8fafc"/>
                </a:solidFill>
                <a:latin typeface="Segoe UI"/>
              </a:rPr>
              <a:t>of a building with a chronic elevator-outage history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9" name="Rectangle 9"/>
          <p:cNvSpPr/>
          <p:nvPr/>
        </p:nvSpPr>
        <p:spPr>
          <a:xfrm>
            <a:off x="594360" y="4005000"/>
            <a:ext cx="1005480" cy="612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10"/>
          <p:cNvSpPr/>
          <p:nvPr/>
        </p:nvSpPr>
        <p:spPr>
          <a:xfrm>
            <a:off x="594360" y="4096440"/>
            <a:ext cx="320004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0abfc"/>
                </a:solidFill>
                <a:latin typeface="Segoe UI"/>
              </a:rPr>
              <a:t>+20%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1" name="TextBox 11"/>
          <p:cNvSpPr/>
          <p:nvPr/>
        </p:nvSpPr>
        <p:spPr>
          <a:xfrm>
            <a:off x="594360" y="4956120"/>
            <a:ext cx="4388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cbd5e1"/>
                </a:solidFill>
                <a:latin typeface="Segoe UI"/>
              </a:rPr>
              <a:t>rise in elevator complaint rates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</a:pPr>
            <a:r>
              <a:rPr b="0" lang="en-US" sz="1300" spc="-1" strike="noStrike">
                <a:solidFill>
                  <a:srgbClr val="cbd5e1"/>
                </a:solidFill>
                <a:latin typeface="Segoe UI"/>
              </a:rPr>
              <a:t>during heat weeks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" name="Rounded Rectangle 12"/>
          <p:cNvSpPr/>
          <p:nvPr/>
        </p:nvSpPr>
        <p:spPr>
          <a:xfrm>
            <a:off x="5989320" y="1143000"/>
            <a:ext cx="5668920" cy="530316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13"/>
          <p:cNvSpPr/>
          <p:nvPr/>
        </p:nvSpPr>
        <p:spPr>
          <a:xfrm>
            <a:off x="6263640" y="1398960"/>
            <a:ext cx="512028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94a3b8"/>
                </a:solidFill>
                <a:latin typeface="Segoe UI"/>
              </a:rPr>
              <a:t>BUILDING RISK EXPOSURE BY BOROUGH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54" name="TextBox 14"/>
          <p:cNvSpPr/>
          <p:nvPr/>
        </p:nvSpPr>
        <p:spPr>
          <a:xfrm>
            <a:off x="6190560" y="1874520"/>
            <a:ext cx="3196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</a:rPr>
              <a:t>BK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5" name="Rectangle 15"/>
          <p:cNvSpPr/>
          <p:nvPr/>
        </p:nvSpPr>
        <p:spPr>
          <a:xfrm>
            <a:off x="6602040" y="1920240"/>
            <a:ext cx="4498560" cy="127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Rectangle 16"/>
          <p:cNvSpPr/>
          <p:nvPr/>
        </p:nvSpPr>
        <p:spPr>
          <a:xfrm>
            <a:off x="6602040" y="1920240"/>
            <a:ext cx="3688560" cy="127800"/>
          </a:xfrm>
          <a:prstGeom prst="rect">
            <a:avLst/>
          </a:prstGeom>
          <a:solidFill>
            <a:srgbClr val="fda4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TextBox 17"/>
          <p:cNvSpPr/>
          <p:nvPr/>
        </p:nvSpPr>
        <p:spPr>
          <a:xfrm>
            <a:off x="10346040" y="1874520"/>
            <a:ext cx="411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da4af"/>
                </a:solidFill>
                <a:latin typeface="Segoe UI"/>
              </a:rPr>
              <a:t>82%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8" name="TextBox 18"/>
          <p:cNvSpPr/>
          <p:nvPr/>
        </p:nvSpPr>
        <p:spPr>
          <a:xfrm>
            <a:off x="6190560" y="2532960"/>
            <a:ext cx="3196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</a:rPr>
              <a:t>BX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59" name="Rectangle 19"/>
          <p:cNvSpPr/>
          <p:nvPr/>
        </p:nvSpPr>
        <p:spPr>
          <a:xfrm>
            <a:off x="6602040" y="2578680"/>
            <a:ext cx="4498560" cy="127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Rectangle 20"/>
          <p:cNvSpPr/>
          <p:nvPr/>
        </p:nvSpPr>
        <p:spPr>
          <a:xfrm>
            <a:off x="6602040" y="2578680"/>
            <a:ext cx="3508920" cy="127800"/>
          </a:xfrm>
          <a:prstGeom prst="rect">
            <a:avLst/>
          </a:prstGeom>
          <a:solidFill>
            <a:srgbClr val="fda4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TextBox 21"/>
          <p:cNvSpPr/>
          <p:nvPr/>
        </p:nvSpPr>
        <p:spPr>
          <a:xfrm>
            <a:off x="10166040" y="2532960"/>
            <a:ext cx="411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da4af"/>
                </a:solidFill>
                <a:latin typeface="Segoe UI"/>
              </a:rPr>
              <a:t>78%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2" name="TextBox 22"/>
          <p:cNvSpPr/>
          <p:nvPr/>
        </p:nvSpPr>
        <p:spPr>
          <a:xfrm>
            <a:off x="6190560" y="3191400"/>
            <a:ext cx="3196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</a:rPr>
              <a:t>MN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3" name="Rectangle 23"/>
          <p:cNvSpPr/>
          <p:nvPr/>
        </p:nvSpPr>
        <p:spPr>
          <a:xfrm>
            <a:off x="6602040" y="3237120"/>
            <a:ext cx="4498560" cy="127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Rectangle 24"/>
          <p:cNvSpPr/>
          <p:nvPr/>
        </p:nvSpPr>
        <p:spPr>
          <a:xfrm>
            <a:off x="6602040" y="3237120"/>
            <a:ext cx="3193920" cy="127800"/>
          </a:xfrm>
          <a:prstGeom prst="rect">
            <a:avLst/>
          </a:prstGeom>
          <a:solidFill>
            <a:srgbClr val="f0ab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TextBox 25"/>
          <p:cNvSpPr/>
          <p:nvPr/>
        </p:nvSpPr>
        <p:spPr>
          <a:xfrm>
            <a:off x="9851040" y="3191400"/>
            <a:ext cx="411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0abfc"/>
                </a:solidFill>
                <a:latin typeface="Segoe UI"/>
              </a:rPr>
              <a:t>71%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6" name="TextBox 26"/>
          <p:cNvSpPr/>
          <p:nvPr/>
        </p:nvSpPr>
        <p:spPr>
          <a:xfrm>
            <a:off x="6190560" y="3849480"/>
            <a:ext cx="3196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</a:rPr>
              <a:t>QN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67" name="Rectangle 27"/>
          <p:cNvSpPr/>
          <p:nvPr/>
        </p:nvSpPr>
        <p:spPr>
          <a:xfrm>
            <a:off x="6602040" y="3895200"/>
            <a:ext cx="4498560" cy="127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Rectangle 28"/>
          <p:cNvSpPr/>
          <p:nvPr/>
        </p:nvSpPr>
        <p:spPr>
          <a:xfrm>
            <a:off x="6602040" y="3895200"/>
            <a:ext cx="2923920" cy="1278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29"/>
          <p:cNvSpPr/>
          <p:nvPr/>
        </p:nvSpPr>
        <p:spPr>
          <a:xfrm>
            <a:off x="9581040" y="3849480"/>
            <a:ext cx="411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8bdf8"/>
                </a:solidFill>
                <a:latin typeface="Segoe UI"/>
              </a:rPr>
              <a:t>65%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0" name="TextBox 30"/>
          <p:cNvSpPr/>
          <p:nvPr/>
        </p:nvSpPr>
        <p:spPr>
          <a:xfrm>
            <a:off x="6190560" y="4507920"/>
            <a:ext cx="3196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</a:rPr>
              <a:t>SI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1" name="Rectangle 31"/>
          <p:cNvSpPr/>
          <p:nvPr/>
        </p:nvSpPr>
        <p:spPr>
          <a:xfrm>
            <a:off x="6602040" y="4553640"/>
            <a:ext cx="4498560" cy="127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Rectangle 32"/>
          <p:cNvSpPr/>
          <p:nvPr/>
        </p:nvSpPr>
        <p:spPr>
          <a:xfrm>
            <a:off x="6602040" y="4553640"/>
            <a:ext cx="1844280" cy="12780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33"/>
          <p:cNvSpPr/>
          <p:nvPr/>
        </p:nvSpPr>
        <p:spPr>
          <a:xfrm>
            <a:off x="8501400" y="4507920"/>
            <a:ext cx="411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34d399"/>
                </a:solidFill>
                <a:latin typeface="Segoe UI"/>
              </a:rPr>
              <a:t>41%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74" name="TextBox 34"/>
          <p:cNvSpPr/>
          <p:nvPr/>
        </p:nvSpPr>
        <p:spPr>
          <a:xfrm>
            <a:off x="6263640" y="6053400"/>
            <a:ext cx="51202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750" spc="-1" strike="noStrike">
                <a:solidFill>
                  <a:srgbClr val="94a3b8"/>
                </a:solidFill>
                <a:latin typeface="Segoe UI"/>
              </a:rPr>
              <a:t>% of providers within ¼ mi of a chronic-offender building</a:t>
            </a:r>
            <a:endParaRPr b="0" lang="en-US" sz="750" spc="-1" strike="noStrike">
              <a:latin typeface="Arial"/>
            </a:endParaRPr>
          </a:p>
        </p:txBody>
      </p:sp>
      <p:sp>
        <p:nvSpPr>
          <p:cNvPr id="75" name="TextBox 35"/>
          <p:cNvSpPr/>
          <p:nvPr/>
        </p:nvSpPr>
        <p:spPr>
          <a:xfrm>
            <a:off x="10789920" y="6492240"/>
            <a:ext cx="1188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94a3b8"/>
                </a:solidFill>
                <a:latin typeface="Segoe UI"/>
              </a:rPr>
              <a:t>1 / 5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med" p14:dur="1500">
        <p14:ferris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val 2"/>
          <p:cNvSpPr/>
          <p:nvPr/>
        </p:nvSpPr>
        <p:spPr>
          <a:xfrm>
            <a:off x="7772400" y="-1371600"/>
            <a:ext cx="5028840" cy="3657240"/>
          </a:xfrm>
          <a:prstGeom prst="ellipse">
            <a:avLst/>
          </a:prstGeom>
          <a:solidFill>
            <a:srgbClr val="f0abfc">
              <a:alpha val="7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Oval 1"/>
          <p:cNvSpPr/>
          <p:nvPr/>
        </p:nvSpPr>
        <p:spPr>
          <a:xfrm>
            <a:off x="-2286000" y="3200400"/>
            <a:ext cx="5943240" cy="4571640"/>
          </a:xfrm>
          <a:prstGeom prst="ellipse">
            <a:avLst/>
          </a:prstGeom>
          <a:solidFill>
            <a:srgbClr val="fda4af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78" name="Picture 3" descr="care-route-logo.png"/>
          <p:cNvPicPr/>
          <p:nvPr/>
        </p:nvPicPr>
        <p:blipFill>
          <a:blip r:embed="rId1"/>
          <a:stretch/>
        </p:blipFill>
        <p:spPr>
          <a:xfrm>
            <a:off x="594360" y="201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79" name="TextBox 4"/>
          <p:cNvSpPr/>
          <p:nvPr/>
        </p:nvSpPr>
        <p:spPr>
          <a:xfrm>
            <a:off x="1069920" y="283320"/>
            <a:ext cx="22856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Care-Route Optimizer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594360" y="731520"/>
            <a:ext cx="11002680" cy="6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6"/>
          <p:cNvSpPr/>
          <p:nvPr/>
        </p:nvSpPr>
        <p:spPr>
          <a:xfrm>
            <a:off x="594360" y="1188720"/>
            <a:ext cx="50288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fda4af"/>
                </a:solidFill>
                <a:latin typeface="Segoe UI"/>
              </a:rPr>
              <a:t>THE PROBLEM IT REVEALS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594360" y="1417320"/>
            <a:ext cx="502884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  <a:buNone/>
            </a:pPr>
            <a:r>
              <a:rPr b="1" lang="en-US" sz="2600" spc="-1" strike="noStrike">
                <a:solidFill>
                  <a:srgbClr val="f8fafc"/>
                </a:solidFill>
                <a:latin typeface="Segoe UI"/>
              </a:rPr>
              <a:t>When the elevator stops,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1" lang="en-US" sz="2600" spc="-1" strike="noStrike">
                <a:solidFill>
                  <a:srgbClr val="fda4af"/>
                </a:solidFill>
                <a:latin typeface="Segoe UI"/>
              </a:rPr>
              <a:t>care stops too.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594360" y="2606040"/>
            <a:ext cx="493740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45000"/>
              </a:lnSpc>
              <a:buNone/>
            </a:pPr>
            <a:r>
              <a:rPr b="0" lang="en-US" sz="1450" spc="-1" strike="noStrike">
                <a:solidFill>
                  <a:srgbClr val="cbd5e1"/>
                </a:solidFill>
                <a:latin typeface="Segoe UI"/>
              </a:rPr>
              <a:t>When those elevators break, homebound seniors on upper floors lose access to meals and care — and today's dispatchers don't find out until a worker is already stranded in the lobby.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84" name="Rounded Rectangle 9"/>
          <p:cNvSpPr/>
          <p:nvPr/>
        </p:nvSpPr>
        <p:spPr>
          <a:xfrm>
            <a:off x="6172200" y="1417320"/>
            <a:ext cx="5486040" cy="49831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fda4a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Rounded Rectangle 11"/>
          <p:cNvSpPr/>
          <p:nvPr/>
        </p:nvSpPr>
        <p:spPr>
          <a:xfrm>
            <a:off x="6428160" y="1673280"/>
            <a:ext cx="914040" cy="273960"/>
          </a:xfrm>
          <a:prstGeom prst="roundRect">
            <a:avLst>
              <a:gd name="adj" fmla="val 50000"/>
            </a:avLst>
          </a:prstGeom>
          <a:solidFill>
            <a:srgbClr val="fda4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27080" rIns="127080" tIns="50760" bIns="5076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850" spc="97" strike="noStrike">
                <a:solidFill>
                  <a:srgbClr val="0f172a"/>
                </a:solidFill>
                <a:latin typeface="Segoe UI"/>
              </a:rPr>
              <a:t>CRITICAL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6428160" y="2075760"/>
            <a:ext cx="49374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8fafc"/>
                </a:solidFill>
                <a:latin typeface="Segoe UI"/>
              </a:rPr>
              <a:t>Maria C.  ·  Route 7B  ·  Stop 12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6428160" y="2377440"/>
            <a:ext cx="493740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cbd5e1"/>
                </a:solidFill>
                <a:latin typeface="Segoe UI"/>
              </a:rPr>
              <a:t>247 Delancey St, Manhattan — Floor 9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Rectangle 14"/>
          <p:cNvSpPr/>
          <p:nvPr/>
        </p:nvSpPr>
        <p:spPr>
          <a:xfrm>
            <a:off x="6428160" y="2715840"/>
            <a:ext cx="4845960" cy="6120"/>
          </a:xfrm>
          <a:prstGeom prst="rect">
            <a:avLst/>
          </a:prstGeom>
          <a:solidFill>
            <a:srgbClr val="fda4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TextBox 15"/>
          <p:cNvSpPr/>
          <p:nvPr/>
        </p:nvSpPr>
        <p:spPr>
          <a:xfrm>
            <a:off x="6428160" y="2834640"/>
            <a:ext cx="22856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94a3b8"/>
                </a:solidFill>
                <a:latin typeface="Segoe UI"/>
              </a:rPr>
              <a:t>ELEVATOR STATUS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6428160" y="3081600"/>
            <a:ext cx="484596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da4af"/>
                </a:solidFill>
                <a:latin typeface="Segoe UI"/>
              </a:rPr>
              <a:t>Out of service  ·  Single unit  ·  3rd outage this month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1" name="Rectangle 17"/>
          <p:cNvSpPr/>
          <p:nvPr/>
        </p:nvSpPr>
        <p:spPr>
          <a:xfrm>
            <a:off x="6428160" y="3447360"/>
            <a:ext cx="4845960" cy="6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TextBox 18"/>
          <p:cNvSpPr/>
          <p:nvPr/>
        </p:nvSpPr>
        <p:spPr>
          <a:xfrm>
            <a:off x="6428160" y="3566160"/>
            <a:ext cx="228564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00" spc="-1" strike="noStrike">
                <a:solidFill>
                  <a:srgbClr val="94a3b8"/>
                </a:solidFill>
                <a:latin typeface="Segoe UI"/>
              </a:rPr>
              <a:t>DISPATCHER NOTIFIED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3" name="TextBox 19"/>
          <p:cNvSpPr/>
          <p:nvPr/>
        </p:nvSpPr>
        <p:spPr>
          <a:xfrm>
            <a:off x="6428160" y="3813120"/>
            <a:ext cx="4845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da4af"/>
                </a:solidFill>
                <a:latin typeface="Segoe UI"/>
              </a:rPr>
              <a:t>47 minutes after scheduled arrival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4" name="Rounded Rectangle 20"/>
          <p:cNvSpPr/>
          <p:nvPr/>
        </p:nvSpPr>
        <p:spPr>
          <a:xfrm>
            <a:off x="6428160" y="4325040"/>
            <a:ext cx="4845960" cy="8226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TextBox 21"/>
          <p:cNvSpPr/>
          <p:nvPr/>
        </p:nvSpPr>
        <p:spPr>
          <a:xfrm>
            <a:off x="6592680" y="4453200"/>
            <a:ext cx="4480200" cy="50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  <a:buNone/>
            </a:pPr>
            <a:r>
              <a:rPr b="0" lang="en-US" sz="1050" spc="-1" strike="noStrike">
                <a:solidFill>
                  <a:srgbClr val="cbd5e1"/>
                </a:solidFill>
                <a:latin typeface="Segoe UI"/>
              </a:rPr>
              <a:t>→  </a:t>
            </a:r>
            <a:r>
              <a:rPr b="0" lang="en-US" sz="1050" spc="-1" strike="noStrike">
                <a:solidFill>
                  <a:srgbClr val="cbd5e1"/>
                </a:solidFill>
                <a:latin typeface="Segoe UI"/>
              </a:rPr>
              <a:t>Worker arrived at scene, found lobby locked. Senior on floor 9 missed meal delivery.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10789920" y="6492240"/>
            <a:ext cx="1188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94a3b8"/>
                </a:solidFill>
                <a:latin typeface="Segoe UI"/>
              </a:rPr>
              <a:t>2 / 5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med" p14:dur="1500">
        <p14:doors dir="horz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val 2"/>
          <p:cNvSpPr/>
          <p:nvPr/>
        </p:nvSpPr>
        <p:spPr>
          <a:xfrm>
            <a:off x="-1828800" y="3657600"/>
            <a:ext cx="5028840" cy="4571640"/>
          </a:xfrm>
          <a:prstGeom prst="ellipse">
            <a:avLst/>
          </a:prstGeom>
          <a:solidFill>
            <a:srgbClr val="38bdf8">
              <a:alpha val="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Oval 1"/>
          <p:cNvSpPr/>
          <p:nvPr/>
        </p:nvSpPr>
        <p:spPr>
          <a:xfrm>
            <a:off x="7315200" y="-1828800"/>
            <a:ext cx="5943240" cy="5028840"/>
          </a:xfrm>
          <a:prstGeom prst="ellipse">
            <a:avLst/>
          </a:prstGeom>
          <a:solidFill>
            <a:srgbClr val="a78bfa">
              <a:alpha val="12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99" name="Picture 3" descr="care-route-logo.png"/>
          <p:cNvPicPr/>
          <p:nvPr/>
        </p:nvPicPr>
        <p:blipFill>
          <a:blip r:embed="rId1"/>
          <a:stretch/>
        </p:blipFill>
        <p:spPr>
          <a:xfrm>
            <a:off x="594360" y="201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00" name="TextBox 4"/>
          <p:cNvSpPr/>
          <p:nvPr/>
        </p:nvSpPr>
        <p:spPr>
          <a:xfrm>
            <a:off x="1069920" y="283320"/>
            <a:ext cx="22856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Care-Route Optimizer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1" name="Rectangle 5"/>
          <p:cNvSpPr/>
          <p:nvPr/>
        </p:nvSpPr>
        <p:spPr>
          <a:xfrm>
            <a:off x="594360" y="731520"/>
            <a:ext cx="11002680" cy="6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TextBox 6"/>
          <p:cNvSpPr/>
          <p:nvPr/>
        </p:nvSpPr>
        <p:spPr>
          <a:xfrm>
            <a:off x="594360" y="1188720"/>
            <a:ext cx="50288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a78bfa"/>
                </a:solidFill>
                <a:latin typeface="Segoe UI"/>
              </a:rPr>
              <a:t>THE SOLUTION I BUILT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03" name="TextBox 7"/>
          <p:cNvSpPr/>
          <p:nvPr/>
        </p:nvSpPr>
        <p:spPr>
          <a:xfrm>
            <a:off x="594360" y="1417320"/>
            <a:ext cx="502884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  <a:buNone/>
            </a:pPr>
            <a:r>
              <a:rPr b="1" lang="en-US" sz="2600" spc="-1" strike="noStrike">
                <a:solidFill>
                  <a:srgbClr val="f8fafc"/>
                </a:solidFill>
                <a:latin typeface="Segoe UI"/>
              </a:rPr>
              <a:t>Route screening,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1" lang="en-US" sz="2600" spc="-1" strike="noStrike">
                <a:solidFill>
                  <a:srgbClr val="a78bfa"/>
                </a:solidFill>
                <a:latin typeface="Segoe UI"/>
              </a:rPr>
              <a:t>before dispatch.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594360" y="2606040"/>
            <a:ext cx="493740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45000"/>
              </a:lnSpc>
              <a:buNone/>
            </a:pPr>
            <a:r>
              <a:rPr b="0" lang="en-US" sz="1450" spc="-1" strike="noStrike">
                <a:solidFill>
                  <a:srgbClr val="cbd5e1"/>
                </a:solidFill>
                <a:latin typeface="Segoe UI"/>
              </a:rPr>
              <a:t>I built a route-screening tool that cross-references every planned delivery stop against the live NYC elevator-outage feed and a heat-adjusted risk model, flagging hazardous stops before a worker ever leaves the depot.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05" name="Rounded Rectangle 9"/>
          <p:cNvSpPr/>
          <p:nvPr/>
        </p:nvSpPr>
        <p:spPr>
          <a:xfrm>
            <a:off x="6400800" y="1188720"/>
            <a:ext cx="5257440" cy="1325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Oval 10"/>
          <p:cNvSpPr/>
          <p:nvPr/>
        </p:nvSpPr>
        <p:spPr>
          <a:xfrm>
            <a:off x="6629400" y="1760400"/>
            <a:ext cx="182520" cy="18252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11"/>
          <p:cNvSpPr/>
          <p:nvPr/>
        </p:nvSpPr>
        <p:spPr>
          <a:xfrm>
            <a:off x="6976800" y="1650600"/>
            <a:ext cx="4480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Live NYC Elevator Outage Feed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6976800" y="1924920"/>
            <a:ext cx="448020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DOB open data, updated in real time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9" name="Rectangle 13"/>
          <p:cNvSpPr/>
          <p:nvPr/>
        </p:nvSpPr>
        <p:spPr>
          <a:xfrm>
            <a:off x="9020520" y="2514600"/>
            <a:ext cx="18000" cy="4752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Rounded Rectangle 14"/>
          <p:cNvSpPr/>
          <p:nvPr/>
        </p:nvSpPr>
        <p:spPr>
          <a:xfrm>
            <a:off x="6400800" y="2990160"/>
            <a:ext cx="5257440" cy="1325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Oval 15"/>
          <p:cNvSpPr/>
          <p:nvPr/>
        </p:nvSpPr>
        <p:spPr>
          <a:xfrm>
            <a:off x="6629400" y="3561480"/>
            <a:ext cx="182520" cy="182520"/>
          </a:xfrm>
          <a:prstGeom prst="ellipse">
            <a:avLst/>
          </a:prstGeom>
          <a:solidFill>
            <a:srgbClr val="f0ab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TextBox 16"/>
          <p:cNvSpPr/>
          <p:nvPr/>
        </p:nvSpPr>
        <p:spPr>
          <a:xfrm>
            <a:off x="6976800" y="3452040"/>
            <a:ext cx="4480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Heat-Adjusted Risk Model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3" name="TextBox 17"/>
          <p:cNvSpPr/>
          <p:nvPr/>
        </p:nvSpPr>
        <p:spPr>
          <a:xfrm>
            <a:off x="6976800" y="3726360"/>
            <a:ext cx="448020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Complaint rate modifier × 7-day forecast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4" name="Rectangle 18"/>
          <p:cNvSpPr/>
          <p:nvPr/>
        </p:nvSpPr>
        <p:spPr>
          <a:xfrm>
            <a:off x="9020520" y="4316040"/>
            <a:ext cx="18000" cy="475200"/>
          </a:xfrm>
          <a:prstGeom prst="rect">
            <a:avLst/>
          </a:prstGeom>
          <a:solidFill>
            <a:srgbClr val="f0ab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Rounded Rectangle 19"/>
          <p:cNvSpPr/>
          <p:nvPr/>
        </p:nvSpPr>
        <p:spPr>
          <a:xfrm>
            <a:off x="6400800" y="4791600"/>
            <a:ext cx="5257440" cy="13255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Oval 20"/>
          <p:cNvSpPr/>
          <p:nvPr/>
        </p:nvSpPr>
        <p:spPr>
          <a:xfrm>
            <a:off x="6629400" y="5362920"/>
            <a:ext cx="182520" cy="182520"/>
          </a:xfrm>
          <a:prstGeom prst="ellipse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7" name="TextBox 21"/>
          <p:cNvSpPr/>
          <p:nvPr/>
        </p:nvSpPr>
        <p:spPr>
          <a:xfrm>
            <a:off x="6976800" y="5253120"/>
            <a:ext cx="44802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Hazardous Stop Flagged — Before Dispatch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6976800" y="5527440"/>
            <a:ext cx="448020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</a:rPr>
              <a:t>Worker never leaves the depot for a stranded stop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9" name="TextBox 23"/>
          <p:cNvSpPr/>
          <p:nvPr/>
        </p:nvSpPr>
        <p:spPr>
          <a:xfrm>
            <a:off x="10789920" y="6492240"/>
            <a:ext cx="1188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94a3b8"/>
                </a:solidFill>
                <a:latin typeface="Segoe UI"/>
              </a:rPr>
              <a:t>3 / 5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med" p14:dur="1500">
        <p14:prism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Oval 2"/>
          <p:cNvSpPr/>
          <p:nvPr/>
        </p:nvSpPr>
        <p:spPr>
          <a:xfrm>
            <a:off x="-1371600" y="4114800"/>
            <a:ext cx="5028840" cy="3657240"/>
          </a:xfrm>
          <a:prstGeom prst="ellipse">
            <a:avLst/>
          </a:prstGeom>
          <a:solidFill>
            <a:srgbClr val="a78bfa">
              <a:alpha val="1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Oval 1"/>
          <p:cNvSpPr/>
          <p:nvPr/>
        </p:nvSpPr>
        <p:spPr>
          <a:xfrm>
            <a:off x="7772400" y="-1371600"/>
            <a:ext cx="5486040" cy="4571640"/>
          </a:xfrm>
          <a:prstGeom prst="ellipse">
            <a:avLst/>
          </a:prstGeom>
          <a:solidFill>
            <a:srgbClr val="38bdf8">
              <a:alpha val="11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22" name="Picture 3" descr="care-route-logo.png"/>
          <p:cNvPicPr/>
          <p:nvPr/>
        </p:nvPicPr>
        <p:blipFill>
          <a:blip r:embed="rId1"/>
          <a:stretch/>
        </p:blipFill>
        <p:spPr>
          <a:xfrm>
            <a:off x="594360" y="201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23" name="TextBox 4"/>
          <p:cNvSpPr/>
          <p:nvPr/>
        </p:nvSpPr>
        <p:spPr>
          <a:xfrm>
            <a:off x="1069920" y="283320"/>
            <a:ext cx="22856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Care-Route Optimizer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4" name="Rectangle 5"/>
          <p:cNvSpPr/>
          <p:nvPr/>
        </p:nvSpPr>
        <p:spPr>
          <a:xfrm>
            <a:off x="594360" y="731520"/>
            <a:ext cx="11002680" cy="6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5" name="TextBox 6"/>
          <p:cNvSpPr/>
          <p:nvPr/>
        </p:nvSpPr>
        <p:spPr>
          <a:xfrm>
            <a:off x="594360" y="1188720"/>
            <a:ext cx="50288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38bdf8"/>
                </a:solidFill>
                <a:latin typeface="Segoe UI"/>
              </a:rPr>
              <a:t>WHAT IT DOES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594360" y="1417320"/>
            <a:ext cx="5028840" cy="10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20000"/>
              </a:lnSpc>
              <a:buNone/>
            </a:pPr>
            <a:r>
              <a:rPr b="1" lang="en-US" sz="2600" spc="-1" strike="noStrike">
                <a:solidFill>
                  <a:srgbClr val="f8fafc"/>
                </a:solidFill>
                <a:latin typeface="Segoe UI"/>
              </a:rPr>
              <a:t>The Dispatcher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1" lang="en-US" sz="2600" spc="-1" strike="noStrike">
                <a:solidFill>
                  <a:srgbClr val="38bdf8"/>
                </a:solidFill>
                <a:latin typeface="Segoe UI"/>
              </a:rPr>
              <a:t>Dashboard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594360" y="2606040"/>
            <a:ext cx="4937400" cy="13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45000"/>
              </a:lnSpc>
              <a:buNone/>
            </a:pPr>
            <a:r>
              <a:rPr b="0" lang="en-US" sz="1450" spc="-1" strike="noStrike">
                <a:solidFill>
                  <a:srgbClr val="cbd5e1"/>
                </a:solidFill>
                <a:latin typeface="Segoe UI"/>
              </a:rPr>
              <a:t>The dispatcher dashboard surfaces real-time outage alerts, composite building risk scores, and a 7-day heat forecast — giving dispatchers the information to reroute proactively instead of scrambling reactively.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28" name="Rounded Rectangle 9"/>
          <p:cNvSpPr/>
          <p:nvPr/>
        </p:nvSpPr>
        <p:spPr>
          <a:xfrm>
            <a:off x="6400800" y="1234440"/>
            <a:ext cx="2605680" cy="2514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Oval 10"/>
          <p:cNvSpPr/>
          <p:nvPr/>
        </p:nvSpPr>
        <p:spPr>
          <a:xfrm>
            <a:off x="6602040" y="1435680"/>
            <a:ext cx="164160" cy="164160"/>
          </a:xfrm>
          <a:prstGeom prst="ellipse">
            <a:avLst/>
          </a:prstGeom>
          <a:solidFill>
            <a:srgbClr val="fda4a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TextBox 11"/>
          <p:cNvSpPr/>
          <p:nvPr/>
        </p:nvSpPr>
        <p:spPr>
          <a:xfrm>
            <a:off x="6602040" y="1691640"/>
            <a:ext cx="2331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fda4af"/>
                </a:solidFill>
                <a:latin typeface="Segoe UI"/>
              </a:rPr>
              <a:t>LIVE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31" name="TextBox 12"/>
          <p:cNvSpPr/>
          <p:nvPr/>
        </p:nvSpPr>
        <p:spPr>
          <a:xfrm>
            <a:off x="6602040" y="1947600"/>
            <a:ext cx="23313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Real-Time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Outage Alerts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2" name="Rectangle 13"/>
          <p:cNvSpPr/>
          <p:nvPr/>
        </p:nvSpPr>
        <p:spPr>
          <a:xfrm>
            <a:off x="6400800" y="3493080"/>
            <a:ext cx="2605680" cy="255600"/>
          </a:xfrm>
          <a:prstGeom prst="rect">
            <a:avLst/>
          </a:prstGeom>
          <a:solidFill>
            <a:srgbClr val="1a0b0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3" name="Rounded Rectangle 14"/>
          <p:cNvSpPr/>
          <p:nvPr/>
        </p:nvSpPr>
        <p:spPr>
          <a:xfrm>
            <a:off x="9171360" y="1234440"/>
            <a:ext cx="2605680" cy="2514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4" name="Oval 15"/>
          <p:cNvSpPr/>
          <p:nvPr/>
        </p:nvSpPr>
        <p:spPr>
          <a:xfrm>
            <a:off x="9372600" y="1435680"/>
            <a:ext cx="164160" cy="16416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TextBox 16"/>
          <p:cNvSpPr/>
          <p:nvPr/>
        </p:nvSpPr>
        <p:spPr>
          <a:xfrm>
            <a:off x="9372600" y="1691640"/>
            <a:ext cx="2331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38bdf8"/>
                </a:solidFill>
                <a:latin typeface="Segoe UI"/>
              </a:rPr>
              <a:t>COMPOSITE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36" name="TextBox 17"/>
          <p:cNvSpPr/>
          <p:nvPr/>
        </p:nvSpPr>
        <p:spPr>
          <a:xfrm>
            <a:off x="9372600" y="1947600"/>
            <a:ext cx="23313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Building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Risk Score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7" name="Rectangle 18"/>
          <p:cNvSpPr/>
          <p:nvPr/>
        </p:nvSpPr>
        <p:spPr>
          <a:xfrm>
            <a:off x="9171360" y="3493080"/>
            <a:ext cx="2605680" cy="255600"/>
          </a:xfrm>
          <a:prstGeom prst="rect">
            <a:avLst/>
          </a:prstGeom>
          <a:solidFill>
            <a:srgbClr val="0715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Rounded Rectangle 19"/>
          <p:cNvSpPr/>
          <p:nvPr/>
        </p:nvSpPr>
        <p:spPr>
          <a:xfrm>
            <a:off x="6400800" y="3913560"/>
            <a:ext cx="2605680" cy="2514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Oval 20"/>
          <p:cNvSpPr/>
          <p:nvPr/>
        </p:nvSpPr>
        <p:spPr>
          <a:xfrm>
            <a:off x="6602040" y="4114800"/>
            <a:ext cx="164160" cy="164160"/>
          </a:xfrm>
          <a:prstGeom prst="ellipse">
            <a:avLst/>
          </a:prstGeom>
          <a:solidFill>
            <a:srgbClr val="f0ab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21"/>
          <p:cNvSpPr/>
          <p:nvPr/>
        </p:nvSpPr>
        <p:spPr>
          <a:xfrm>
            <a:off x="6602040" y="4370760"/>
            <a:ext cx="2331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f0abfc"/>
                </a:solidFill>
                <a:latin typeface="Segoe UI"/>
              </a:rPr>
              <a:t>FORECAST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41" name="TextBox 22"/>
          <p:cNvSpPr/>
          <p:nvPr/>
        </p:nvSpPr>
        <p:spPr>
          <a:xfrm>
            <a:off x="6602040" y="4626720"/>
            <a:ext cx="23313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7-Day Heat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Forecast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2" name="Rectangle 23"/>
          <p:cNvSpPr/>
          <p:nvPr/>
        </p:nvSpPr>
        <p:spPr>
          <a:xfrm>
            <a:off x="6400800" y="6172200"/>
            <a:ext cx="2605680" cy="255600"/>
          </a:xfrm>
          <a:prstGeom prst="rect">
            <a:avLst/>
          </a:prstGeom>
          <a:solidFill>
            <a:srgbClr val="1709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Rounded Rectangle 24"/>
          <p:cNvSpPr/>
          <p:nvPr/>
        </p:nvSpPr>
        <p:spPr>
          <a:xfrm>
            <a:off x="9171360" y="3913560"/>
            <a:ext cx="2605680" cy="251424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solidFill>
              <a:srgbClr val="1e293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Oval 25"/>
          <p:cNvSpPr/>
          <p:nvPr/>
        </p:nvSpPr>
        <p:spPr>
          <a:xfrm>
            <a:off x="9372600" y="4114800"/>
            <a:ext cx="164160" cy="164160"/>
          </a:xfrm>
          <a:prstGeom prst="ellipse">
            <a:avLst/>
          </a:prstGeom>
          <a:solidFill>
            <a:srgbClr val="34d39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5" name="TextBox 26"/>
          <p:cNvSpPr/>
          <p:nvPr/>
        </p:nvSpPr>
        <p:spPr>
          <a:xfrm>
            <a:off x="9372600" y="4370760"/>
            <a:ext cx="2331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34d399"/>
                </a:solidFill>
                <a:latin typeface="Segoe UI"/>
              </a:rPr>
              <a:t>OUTCOME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46" name="TextBox 27"/>
          <p:cNvSpPr/>
          <p:nvPr/>
        </p:nvSpPr>
        <p:spPr>
          <a:xfrm>
            <a:off x="9372600" y="4626720"/>
            <a:ext cx="233136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Proactive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8fafc"/>
                </a:solidFill>
                <a:latin typeface="Segoe UI"/>
              </a:rPr>
              <a:t>Rerouting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7" name="Rectangle 28"/>
          <p:cNvSpPr/>
          <p:nvPr/>
        </p:nvSpPr>
        <p:spPr>
          <a:xfrm>
            <a:off x="9171360" y="6172200"/>
            <a:ext cx="2605680" cy="255600"/>
          </a:xfrm>
          <a:prstGeom prst="rect">
            <a:avLst/>
          </a:prstGeom>
          <a:solidFill>
            <a:srgbClr val="07151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TextBox 29"/>
          <p:cNvSpPr/>
          <p:nvPr/>
        </p:nvSpPr>
        <p:spPr>
          <a:xfrm>
            <a:off x="10789920" y="6492240"/>
            <a:ext cx="1188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94a3b8"/>
                </a:solidFill>
                <a:latin typeface="Segoe UI"/>
              </a:rPr>
              <a:t>4 / 5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med" p14:dur="1500">
        <p14:gallery dir="r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Oval 2"/>
          <p:cNvSpPr/>
          <p:nvPr/>
        </p:nvSpPr>
        <p:spPr>
          <a:xfrm>
            <a:off x="8229600" y="-1828800"/>
            <a:ext cx="5486040" cy="5028840"/>
          </a:xfrm>
          <a:prstGeom prst="ellipse">
            <a:avLst/>
          </a:prstGeom>
          <a:solidFill>
            <a:srgbClr val="38bdf8">
              <a:alpha val="11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Oval 1"/>
          <p:cNvSpPr/>
          <p:nvPr/>
        </p:nvSpPr>
        <p:spPr>
          <a:xfrm>
            <a:off x="-1828800" y="2743200"/>
            <a:ext cx="5943240" cy="5486040"/>
          </a:xfrm>
          <a:prstGeom prst="ellipse">
            <a:avLst/>
          </a:prstGeom>
          <a:solidFill>
            <a:srgbClr val="34d399">
              <a:alpha val="9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1" name="Picture 3" descr="care-route-logo.png"/>
          <p:cNvPicPr/>
          <p:nvPr/>
        </p:nvPicPr>
        <p:blipFill>
          <a:blip r:embed="rId1"/>
          <a:stretch/>
        </p:blipFill>
        <p:spPr>
          <a:xfrm>
            <a:off x="594360" y="201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52" name="TextBox 4"/>
          <p:cNvSpPr/>
          <p:nvPr/>
        </p:nvSpPr>
        <p:spPr>
          <a:xfrm>
            <a:off x="1069920" y="283320"/>
            <a:ext cx="22856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94a3b8"/>
                </a:solidFill>
                <a:latin typeface="Segoe UI"/>
              </a:rPr>
              <a:t>Care-Route Optimizer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3" name="Rectangle 5"/>
          <p:cNvSpPr/>
          <p:nvPr/>
        </p:nvSpPr>
        <p:spPr>
          <a:xfrm>
            <a:off x="594360" y="731520"/>
            <a:ext cx="11002680" cy="6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TextBox 6"/>
          <p:cNvSpPr/>
          <p:nvPr/>
        </p:nvSpPr>
        <p:spPr>
          <a:xfrm>
            <a:off x="594360" y="1188720"/>
            <a:ext cx="45716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850" spc="137" strike="noStrike">
                <a:solidFill>
                  <a:srgbClr val="34d399"/>
                </a:solidFill>
                <a:latin typeface="Segoe UI"/>
              </a:rPr>
              <a:t>WHY IT MATTERS</a:t>
            </a:r>
            <a:endParaRPr b="0" lang="en-US" sz="850" spc="-1" strike="noStrike"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384120" y="1389960"/>
            <a:ext cx="68576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600" spc="-1" strike="noStrike">
                <a:solidFill>
                  <a:srgbClr val="38bdf8"/>
                </a:solidFill>
                <a:latin typeface="Segoe UI"/>
              </a:rPr>
              <a:t>1.8M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594360" y="3218760"/>
            <a:ext cx="6857640" cy="8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30000"/>
              </a:lnSpc>
              <a:buNone/>
            </a:pPr>
            <a:r>
              <a:rPr b="0" lang="en-US" sz="1900" spc="-1" strike="noStrike">
                <a:solidFill>
                  <a:srgbClr val="f8fafc"/>
                </a:solidFill>
                <a:latin typeface="Segoe UI"/>
              </a:rPr>
              <a:t>older New Yorkers depend on DFTA-contracted providers for meals and care.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57" name="TextBox 9"/>
          <p:cNvSpPr/>
          <p:nvPr/>
        </p:nvSpPr>
        <p:spPr>
          <a:xfrm>
            <a:off x="594360" y="4187880"/>
            <a:ext cx="749772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35000"/>
              </a:lnSpc>
              <a:buNone/>
            </a:pPr>
            <a:r>
              <a:rPr b="0" lang="en-US" sz="1500" spc="-1" strike="noStrike">
                <a:solidFill>
                  <a:srgbClr val="cbd5e1"/>
                </a:solidFill>
                <a:latin typeface="Segoe UI"/>
              </a:rPr>
              <a:t>This is the first tool that shifts senior-care delivery from reactive to proactive.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58" name="Picture 10" descr="care-route-logo.png"/>
          <p:cNvPicPr/>
          <p:nvPr/>
        </p:nvPicPr>
        <p:blipFill>
          <a:blip r:embed="rId2"/>
          <a:stretch/>
        </p:blipFill>
        <p:spPr>
          <a:xfrm>
            <a:off x="9326880" y="1261800"/>
            <a:ext cx="2377080" cy="2377080"/>
          </a:xfrm>
          <a:prstGeom prst="rect">
            <a:avLst/>
          </a:prstGeom>
          <a:ln w="0">
            <a:noFill/>
          </a:ln>
        </p:spPr>
      </p:pic>
      <p:sp>
        <p:nvSpPr>
          <p:cNvPr id="159" name="TextBox 11"/>
          <p:cNvSpPr/>
          <p:nvPr/>
        </p:nvSpPr>
        <p:spPr>
          <a:xfrm>
            <a:off x="9052560" y="3822120"/>
            <a:ext cx="2925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20000"/>
              </a:lnSpc>
              <a:buNone/>
            </a:pPr>
            <a:r>
              <a:rPr b="1" lang="en-US" sz="1700" spc="-1" strike="noStrike">
                <a:solidFill>
                  <a:srgbClr val="f8fafc"/>
                </a:solidFill>
                <a:latin typeface="Segoe UI"/>
              </a:rPr>
              <a:t>Care-Route</a:t>
            </a:r>
            <a:endParaRPr b="0" lang="en-US" sz="17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</a:pPr>
            <a:r>
              <a:rPr b="0" lang="en-US" sz="1300" spc="-1" strike="noStrike">
                <a:solidFill>
                  <a:srgbClr val="94a3b8"/>
                </a:solidFill>
                <a:latin typeface="Segoe UI"/>
              </a:rPr>
              <a:t>Optimizer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0" name="Rounded Rectangle 12"/>
          <p:cNvSpPr/>
          <p:nvPr/>
        </p:nvSpPr>
        <p:spPr>
          <a:xfrm>
            <a:off x="2011680" y="5742360"/>
            <a:ext cx="3840120" cy="62136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8bdf8"/>
              </a:gs>
              <a:gs pos="100000">
                <a:srgbClr val="a78bfa"/>
              </a:gs>
            </a:gsLst>
            <a:lin ang="135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7632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f172a"/>
                </a:solidFill>
                <a:latin typeface="Segoe UI"/>
              </a:rPr>
              <a:t>Reactive  →  Proactive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1" name="TextBox 13"/>
          <p:cNvSpPr/>
          <p:nvPr/>
        </p:nvSpPr>
        <p:spPr>
          <a:xfrm>
            <a:off x="10789920" y="6492240"/>
            <a:ext cx="11883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50" spc="-1" strike="noStrike">
                <a:solidFill>
                  <a:srgbClr val="94a3b8"/>
                </a:solidFill>
                <a:latin typeface="Segoe UI"/>
              </a:rPr>
              <a:t>5 / 5</a:t>
            </a:r>
            <a:endParaRPr b="0" lang="en-US" sz="850" spc="-1" strike="noStrike">
              <a:latin typeface="Arial"/>
            </a:endParaRPr>
          </a:p>
        </p:txBody>
      </p:sp>
    </p:spTree>
  </p:cSld>
  <mc:AlternateContent>
    <mc:Choice Requires="p14">
      <p:transition spd="med" p14:dur="1500">
        <p14:vortex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LibreOffice/7.3.0.3$MacOSX_X86_64 LibreOffice_project/0f246aa12d0eee4a0f7adcefbf7c878fc2238db3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2026-06-30T20:01:10Z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